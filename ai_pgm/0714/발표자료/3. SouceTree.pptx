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330" r:id="rId3"/>
    <p:sldId id="345" r:id="rId4"/>
    <p:sldId id="346" r:id="rId5"/>
    <p:sldId id="343" r:id="rId6"/>
    <p:sldId id="354" r:id="rId7"/>
    <p:sldId id="347" r:id="rId8"/>
    <p:sldId id="344" r:id="rId9"/>
    <p:sldId id="349" r:id="rId10"/>
    <p:sldId id="350" r:id="rId11"/>
    <p:sldId id="352" r:id="rId12"/>
    <p:sldId id="353" r:id="rId13"/>
    <p:sldId id="351" r:id="rId14"/>
    <p:sldId id="342" r:id="rId15"/>
  </p:sldIdLst>
  <p:sldSz cx="24384000" cy="13716000"/>
  <p:notesSz cx="6858000" cy="9144000"/>
  <p:embeddedFontLst>
    <p:embeddedFont>
      <p:font typeface="나눔스퀘어 네오 ExtraBold" panose="020B0604020202020204" charset="-127"/>
      <p:bold r:id="rId17"/>
    </p:embeddedFont>
    <p:embeddedFont>
      <p:font typeface="Manrope ExtraBold" panose="020B0604020202020204" charset="0"/>
      <p:bold r:id="rId18"/>
    </p:embeddedFont>
    <p:embeddedFont>
      <p:font typeface="나눔스퀘어OTF_ac" panose="020B0600000101010101" pitchFamily="34" charset="-127"/>
      <p:regular r:id="rId19"/>
    </p:embeddedFont>
    <p:embeddedFont>
      <p:font typeface="나눔스퀘어OTF_ac ExtraBold" panose="020B0600000101010101" pitchFamily="34" charset="-127"/>
      <p:bold r:id="rId20"/>
    </p:embeddedFont>
    <p:embeddedFont>
      <p:font typeface="맑은 고딕" panose="020B0503020000020004" pitchFamily="34" charset="-127"/>
      <p:regular r:id="rId21"/>
      <p:bold r:id="rId22"/>
    </p:embeddedFont>
    <p:embeddedFont>
      <p:font typeface="제주고딕" panose="02000300000000000000" pitchFamily="2" charset="-127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D8"/>
    <a:srgbClr val="92D050"/>
    <a:srgbClr val="FF9100"/>
    <a:srgbClr val="84B6F4"/>
    <a:srgbClr val="E7E7E7"/>
    <a:srgbClr val="00B050"/>
    <a:srgbClr val="F79646"/>
    <a:srgbClr val="7CC3CD"/>
    <a:srgbClr val="46FE77"/>
    <a:srgbClr val="649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8" autoAdjust="0"/>
    <p:restoredTop sz="92665" autoAdjust="0"/>
  </p:normalViewPr>
  <p:slideViewPr>
    <p:cSldViewPr>
      <p:cViewPr varScale="1">
        <p:scale>
          <a:sx n="19" d="100"/>
          <a:sy n="19" d="100"/>
        </p:scale>
        <p:origin x="45" y="5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545D0-426C-4749-8ABE-EFF4E82E43B3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0EBB6-CE01-4612-A9BE-2824E793DE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520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57DD6DE-107D-3411-ABCC-324F195968C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22980"/>
            <a:ext cx="24384000" cy="13716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3800" y="4485520"/>
            <a:ext cx="2870200" cy="234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1800" y="11658600"/>
            <a:ext cx="2514600" cy="2057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400" y="7250573"/>
            <a:ext cx="244221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689350" y="2998898"/>
            <a:ext cx="18103850" cy="3454400"/>
          </a:xfrm>
          <a:prstGeom prst="rect">
            <a:avLst/>
          </a:prstGeom>
        </p:spPr>
        <p:txBody>
          <a:bodyPr lIns="0" tIns="215223" rIns="0" bIns="0" rtlCol="0" anchor="ctr"/>
          <a:lstStyle/>
          <a:p>
            <a:pPr lvl="0" algn="ctr">
              <a:lnSpc>
                <a:spcPct val="90470"/>
              </a:lnSpc>
            </a:pPr>
            <a:r>
              <a:rPr lang="en-US" sz="20800" b="0" i="0" u="none" strike="noStrike" spc="-400" dirty="0">
                <a:solidFill>
                  <a:srgbClr val="006CD8"/>
                </a:solidFill>
                <a:latin typeface="Manrope ExtraBold"/>
                <a:ea typeface="Manrope ExtraBold"/>
                <a:cs typeface="Manrope ExtraBold"/>
              </a:rPr>
              <a:t>SourceTree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87444" y="7506827"/>
            <a:ext cx="10883900" cy="1397000"/>
          </a:xfrm>
          <a:prstGeom prst="rect">
            <a:avLst/>
          </a:prstGeom>
        </p:spPr>
        <p:txBody>
          <a:bodyPr lIns="0" tIns="20320" rIns="0" bIns="0" rtlCol="0" anchor="ctr"/>
          <a:lstStyle/>
          <a:p>
            <a:pPr lvl="0" algn="ctr">
              <a:lnSpc>
                <a:spcPct val="109559"/>
              </a:lnSpc>
            </a:pPr>
            <a:r>
              <a:rPr lang="ko-KR" altLang="en-US" sz="3999" dirty="0">
                <a:solidFill>
                  <a:srgbClr val="21212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Bold"/>
              </a:rPr>
              <a:t>버전 관리시스템의 기초부터 실무까지</a:t>
            </a:r>
            <a:endParaRPr lang="en-US" sz="3999" b="0" i="0" u="none" strike="noStrike" dirty="0">
              <a:solidFill>
                <a:srgbClr val="21212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Manrope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68500" y="12266246"/>
            <a:ext cx="57531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8689"/>
              </a:lnSpc>
            </a:pPr>
            <a:r>
              <a:rPr lang="ko-KR" altLang="en-US" sz="2666" b="0" i="0" u="none" strike="noStrike" dirty="0">
                <a:solidFill>
                  <a:srgbClr val="9E9E9E"/>
                </a:solidFill>
                <a:latin typeface="제주고딕" panose="02000300000000000000" pitchFamily="2" charset="-127"/>
                <a:ea typeface="제주고딕" panose="02000300000000000000" pitchFamily="2" charset="-127"/>
                <a:cs typeface="Manrope SemiBold"/>
              </a:rPr>
              <a:t>경성대학교 소프트웨어학과</a:t>
            </a:r>
            <a:endParaRPr lang="en-US" altLang="ko-KR" sz="2666" b="0" i="0" u="none" strike="noStrike" dirty="0">
              <a:solidFill>
                <a:srgbClr val="9E9E9E"/>
              </a:solidFill>
              <a:latin typeface="제주고딕" panose="02000300000000000000" pitchFamily="2" charset="-127"/>
              <a:ea typeface="제주고딕" panose="02000300000000000000" pitchFamily="2" charset="-127"/>
              <a:cs typeface="Manrope SemiBold"/>
            </a:endParaRPr>
          </a:p>
          <a:p>
            <a:pPr lvl="0" algn="l">
              <a:lnSpc>
                <a:spcPct val="118689"/>
              </a:lnSpc>
            </a:pPr>
            <a:r>
              <a:rPr lang="ko-KR" altLang="en-US" sz="2666" dirty="0">
                <a:solidFill>
                  <a:srgbClr val="9E9E9E"/>
                </a:solidFill>
                <a:latin typeface="제주고딕" panose="02000300000000000000" pitchFamily="2" charset="-127"/>
                <a:ea typeface="제주고딕" panose="02000300000000000000" pitchFamily="2" charset="-127"/>
                <a:cs typeface="Manrope SemiBold"/>
              </a:rPr>
              <a:t>강대완</a:t>
            </a:r>
            <a:r>
              <a:rPr lang="en-US" altLang="ko-KR" sz="2666" dirty="0">
                <a:solidFill>
                  <a:srgbClr val="9E9E9E"/>
                </a:solidFill>
                <a:latin typeface="제주고딕" panose="02000300000000000000" pitchFamily="2" charset="-127"/>
                <a:ea typeface="제주고딕" panose="02000300000000000000" pitchFamily="2" charset="-127"/>
                <a:cs typeface="Manrope SemiBold"/>
              </a:rPr>
              <a:t>, </a:t>
            </a:r>
            <a:r>
              <a:rPr lang="ko-KR" altLang="en-US" sz="2666" dirty="0" err="1">
                <a:solidFill>
                  <a:srgbClr val="9E9E9E"/>
                </a:solidFill>
                <a:latin typeface="제주고딕" panose="02000300000000000000" pitchFamily="2" charset="-127"/>
                <a:ea typeface="제주고딕" panose="02000300000000000000" pitchFamily="2" charset="-127"/>
                <a:cs typeface="Manrope SemiBold"/>
              </a:rPr>
              <a:t>김병록</a:t>
            </a:r>
            <a:endParaRPr lang="en-US" sz="2666" b="0" i="0" u="none" strike="noStrike" dirty="0">
              <a:solidFill>
                <a:srgbClr val="9E9E9E"/>
              </a:solidFill>
              <a:latin typeface="제주고딕" panose="02000300000000000000" pitchFamily="2" charset="-127"/>
              <a:ea typeface="제주고딕" panose="02000300000000000000" pitchFamily="2" charset="-127"/>
              <a:cs typeface="Manrope SemiBold"/>
            </a:endParaRPr>
          </a:p>
        </p:txBody>
      </p:sp>
      <p:pic>
        <p:nvPicPr>
          <p:cNvPr id="2" name="그림 1" descr="SourceTree 소스트리 사용법_(수정: 2023.11.10)">
            <a:extLst>
              <a:ext uri="{FF2B5EF4-FFF2-40B4-BE49-F238E27FC236}">
                <a16:creationId xmlns:a16="http://schemas.microsoft.com/office/drawing/2014/main" id="{8CC67877-9E33-7396-8C94-D1EDC243E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11899" y="8205327"/>
            <a:ext cx="4181551" cy="52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8343900"/>
            <a:ext cx="10541000" cy="1219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800" y="8343900"/>
            <a:ext cx="3048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197100" y="787400"/>
            <a:ext cx="142875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 algn="l">
              <a:lnSpc>
                <a:spcPct val="109559"/>
              </a:lnSpc>
            </a:pPr>
            <a:r>
              <a:rPr lang="ko-KR" altLang="en-US" sz="8266" b="0" i="0" u="none" strike="noStrike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목차</a:t>
            </a:r>
            <a:endParaRPr lang="en-US" sz="8266" b="0" i="0" u="none" strike="noStrike" spc="-100" dirty="0">
              <a:solidFill>
                <a:srgbClr val="006CD8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Manrope Extra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768600" y="8585200"/>
            <a:ext cx="6807200" cy="723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>
              <a:lnSpc>
                <a:spcPct val="109559"/>
              </a:lnSpc>
            </a:pPr>
            <a:r>
              <a:rPr lang="en-US" altLang="ko-KR" sz="4000" dirty="0">
                <a:solidFill>
                  <a:srgbClr val="FFFFFF"/>
                </a:solidFill>
                <a:latin typeface="제주고딕" panose="02000300000000000000" pitchFamily="2" charset="-127"/>
                <a:ea typeface="제주고딕" panose="02000300000000000000" pitchFamily="2" charset="-127"/>
                <a:cs typeface="Manrope Medium"/>
              </a:rPr>
              <a:t>History </a:t>
            </a:r>
            <a:r>
              <a:rPr lang="ko-KR" altLang="en-US" sz="4000" dirty="0">
                <a:solidFill>
                  <a:srgbClr val="FFFFFF"/>
                </a:solidFill>
                <a:latin typeface="제주고딕" panose="02000300000000000000" pitchFamily="2" charset="-127"/>
                <a:ea typeface="제주고딕" panose="02000300000000000000" pitchFamily="2" charset="-127"/>
                <a:cs typeface="Manrope Medium"/>
              </a:rPr>
              <a:t>활용</a:t>
            </a:r>
            <a:endParaRPr lang="en-US" altLang="ko-KR" sz="3999" dirty="0">
              <a:solidFill>
                <a:srgbClr val="FFFFFF"/>
              </a:solidFill>
              <a:latin typeface="제주고딕" panose="02000300000000000000" pitchFamily="2" charset="-127"/>
              <a:ea typeface="제주고딕" panose="02000300000000000000" pitchFamily="2" charset="-127"/>
              <a:cs typeface="Manrope Medium"/>
            </a:endParaRPr>
          </a:p>
        </p:txBody>
      </p:sp>
      <p:pic>
        <p:nvPicPr>
          <p:cNvPr id="21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6819900"/>
            <a:ext cx="10541000" cy="1219200"/>
          </a:xfrm>
          <a:prstGeom prst="rect">
            <a:avLst/>
          </a:prstGeom>
        </p:spPr>
      </p:pic>
      <p:pic>
        <p:nvPicPr>
          <p:cNvPr id="23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800" y="6819900"/>
            <a:ext cx="304800" cy="1219200"/>
          </a:xfrm>
          <a:prstGeom prst="rect">
            <a:avLst/>
          </a:prstGeom>
        </p:spPr>
      </p:pic>
      <p:sp>
        <p:nvSpPr>
          <p:cNvPr id="25" name="TextBox 17"/>
          <p:cNvSpPr txBox="1"/>
          <p:nvPr/>
        </p:nvSpPr>
        <p:spPr>
          <a:xfrm>
            <a:off x="2768600" y="7061200"/>
            <a:ext cx="7454900" cy="723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>
              <a:lnSpc>
                <a:spcPct val="109559"/>
              </a:lnSpc>
            </a:pPr>
            <a:r>
              <a:rPr lang="en-US" altLang="ko-KR" sz="4000" dirty="0">
                <a:solidFill>
                  <a:srgbClr val="FFFFFF"/>
                </a:solidFill>
                <a:latin typeface="제주고딕" panose="02000300000000000000" pitchFamily="2" charset="-127"/>
                <a:ea typeface="제주고딕" panose="02000300000000000000" pitchFamily="2" charset="-127"/>
                <a:cs typeface="Manrope Medium"/>
              </a:rPr>
              <a:t>SourceTree </a:t>
            </a:r>
            <a:r>
              <a:rPr lang="ko-KR" altLang="en-US" sz="4000" dirty="0">
                <a:solidFill>
                  <a:srgbClr val="FFFFFF"/>
                </a:solidFill>
                <a:latin typeface="제주고딕" panose="02000300000000000000" pitchFamily="2" charset="-127"/>
                <a:ea typeface="제주고딕" panose="02000300000000000000" pitchFamily="2" charset="-127"/>
                <a:cs typeface="Manrope Medium"/>
              </a:rPr>
              <a:t>사용법</a:t>
            </a:r>
            <a:endParaRPr lang="en-US" altLang="ko-KR" sz="3999" dirty="0">
              <a:solidFill>
                <a:srgbClr val="FFFFFF"/>
              </a:solidFill>
              <a:latin typeface="제주고딕" panose="02000300000000000000" pitchFamily="2" charset="-127"/>
              <a:ea typeface="제주고딕" panose="02000300000000000000" pitchFamily="2" charset="-127"/>
              <a:cs typeface="Manrope Medium"/>
            </a:endParaRP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42972158-E4B0-AEA2-0F26-E4352B61C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3771900"/>
            <a:ext cx="10541000" cy="12192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7FCC3A70-4483-948A-D074-EAC3D8846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5295900"/>
            <a:ext cx="10541000" cy="1219200"/>
          </a:xfrm>
          <a:prstGeom prst="rect">
            <a:avLst/>
          </a:prstGeom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DA9BDA4B-4E24-702C-9B5F-5175C99F2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800" y="3771900"/>
            <a:ext cx="304800" cy="1219200"/>
          </a:xfrm>
          <a:prstGeom prst="rect">
            <a:avLst/>
          </a:prstGeom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9B821DA4-33A9-A0D2-7716-4841C4E8D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0800" y="5295900"/>
            <a:ext cx="304800" cy="1219200"/>
          </a:xfrm>
          <a:prstGeom prst="rect">
            <a:avLst/>
          </a:prstGeom>
        </p:spPr>
      </p:pic>
      <p:sp>
        <p:nvSpPr>
          <p:cNvPr id="18" name="TextBox 16">
            <a:extLst>
              <a:ext uri="{FF2B5EF4-FFF2-40B4-BE49-F238E27FC236}">
                <a16:creationId xmlns:a16="http://schemas.microsoft.com/office/drawing/2014/main" id="{DDD286BB-E7EC-1D9A-24C2-3B19AC41A16A}"/>
              </a:ext>
            </a:extLst>
          </p:cNvPr>
          <p:cNvSpPr txBox="1"/>
          <p:nvPr/>
        </p:nvSpPr>
        <p:spPr>
          <a:xfrm>
            <a:off x="2768600" y="4013200"/>
            <a:ext cx="6807200" cy="723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>
              <a:lnSpc>
                <a:spcPct val="109559"/>
              </a:lnSpc>
            </a:pPr>
            <a:r>
              <a:rPr lang="en-US" altLang="ko-KR" sz="4000" dirty="0">
                <a:solidFill>
                  <a:srgbClr val="FFFFFF"/>
                </a:solidFill>
                <a:latin typeface="제주고딕" panose="02000300000000000000" pitchFamily="2" charset="-127"/>
                <a:ea typeface="제주고딕" panose="02000300000000000000" pitchFamily="2" charset="-127"/>
                <a:cs typeface="Manrope Medium"/>
              </a:rPr>
              <a:t>SourceTree</a:t>
            </a:r>
            <a:endParaRPr lang="en-US" sz="3999" b="0" i="0" u="none" strike="noStrike" dirty="0">
              <a:solidFill>
                <a:srgbClr val="FFFFFF"/>
              </a:solidFill>
              <a:latin typeface="제주고딕" panose="02000300000000000000" pitchFamily="2" charset="-127"/>
              <a:ea typeface="제주고딕" panose="02000300000000000000" pitchFamily="2" charset="-127"/>
              <a:cs typeface="Manrope Medium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51047815-C412-8C88-2A71-16531DFA6C78}"/>
              </a:ext>
            </a:extLst>
          </p:cNvPr>
          <p:cNvSpPr txBox="1"/>
          <p:nvPr/>
        </p:nvSpPr>
        <p:spPr>
          <a:xfrm>
            <a:off x="2768600" y="5537200"/>
            <a:ext cx="7454900" cy="723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sz="4000" dirty="0">
                <a:solidFill>
                  <a:srgbClr val="FFFFFF"/>
                </a:solidFill>
                <a:latin typeface="제주고딕" panose="02000300000000000000" pitchFamily="2" charset="-127"/>
                <a:ea typeface="제주고딕" panose="02000300000000000000" pitchFamily="2" charset="-127"/>
                <a:cs typeface="Manrope Medium"/>
              </a:rPr>
              <a:t>GUI</a:t>
            </a:r>
            <a:endParaRPr lang="en-US" sz="4000" b="0" i="0" u="none" strike="noStrike" dirty="0">
              <a:solidFill>
                <a:srgbClr val="FFFFFF"/>
              </a:solidFill>
              <a:latin typeface="제주고딕" panose="02000300000000000000" pitchFamily="2" charset="-127"/>
              <a:ea typeface="제주고딕" panose="02000300000000000000" pitchFamily="2" charset="-127"/>
              <a:cs typeface="Manrope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7F05-F8ED-11EE-C05F-527597C7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053B70CC-0D9D-11BA-3DE6-A41131281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F8D5F41-C520-ECAA-66D5-D3B1FC17A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42" name="TextBox 17">
            <a:extLst>
              <a:ext uri="{FF2B5EF4-FFF2-40B4-BE49-F238E27FC236}">
                <a16:creationId xmlns:a16="http://schemas.microsoft.com/office/drawing/2014/main" id="{5EC8BB3A-48EA-034F-ED11-57CFD548EFA8}"/>
              </a:ext>
            </a:extLst>
          </p:cNvPr>
          <p:cNvSpPr txBox="1"/>
          <p:nvPr/>
        </p:nvSpPr>
        <p:spPr>
          <a:xfrm>
            <a:off x="2222500" y="787400"/>
            <a:ext cx="149987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>
              <a:lnSpc>
                <a:spcPct val="109559"/>
              </a:lnSpc>
            </a:pPr>
            <a:r>
              <a:rPr lang="en-US" altLang="ko-KR" sz="8266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SourceTree</a:t>
            </a:r>
            <a:r>
              <a:rPr lang="en-US" altLang="ko-KR" sz="8266" b="0" i="0" u="none" strike="noStrike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 </a:t>
            </a:r>
            <a:r>
              <a:rPr lang="en-US" altLang="ko-KR" sz="4800" b="0" i="0" u="none" strike="noStrike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–</a:t>
            </a:r>
            <a:r>
              <a:rPr lang="en-US" altLang="ko-KR" sz="4800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SourceTree</a:t>
            </a:r>
            <a:r>
              <a:rPr lang="ko-KR" altLang="en-US" sz="4800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란</a:t>
            </a:r>
            <a:r>
              <a:rPr lang="en-US" altLang="ko-KR" sz="4800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?</a:t>
            </a:r>
            <a:endParaRPr lang="en-US" sz="4800" b="0" i="0" u="none" strike="noStrike" spc="-100" dirty="0">
              <a:solidFill>
                <a:srgbClr val="006CD8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Manrope Extra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287F06-EE47-6023-B64C-88E96CBA2E96}"/>
              </a:ext>
            </a:extLst>
          </p:cNvPr>
          <p:cNvSpPr txBox="1"/>
          <p:nvPr/>
        </p:nvSpPr>
        <p:spPr>
          <a:xfrm>
            <a:off x="13106400" y="5710462"/>
            <a:ext cx="111069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SourceTree</a:t>
            </a:r>
            <a:r>
              <a:rPr lang="ko-KR" altLang="en-US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란</a:t>
            </a:r>
            <a:r>
              <a:rPr lang="en-US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?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Git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저장소를 관리할 수 있는 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GUI</a:t>
            </a:r>
            <a:b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(Graphical User Interface)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기반의 버전 관리 도구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Git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명령어를 직접 입력하지 않고 버튼과 메뉴를 통해 대부분의 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Git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기능을 사용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복잡한 명령어를 외우지 않아도 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Commit, Push, Pull, Branch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생성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Merge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등의 작업을 수행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저장소의 변경 사항과 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이력을 시각적으로 확인할 수 있어 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Git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처음 배우는 사용자도 쉽게 사용</a:t>
            </a:r>
            <a:endParaRPr lang="ko-KR" altLang="ko-KR" sz="32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23B64A85-FD5D-DCBE-6C0F-92781526FC5F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977750" y="8231079"/>
            <a:ext cx="9000000" cy="38100"/>
          </a:xfrm>
          <a:prstGeom prst="rect">
            <a:avLst/>
          </a:prstGeom>
        </p:spPr>
      </p:pic>
      <p:pic>
        <p:nvPicPr>
          <p:cNvPr id="5" name="그림 4" descr="SourceTree 소스트리 사용법_(수정: 2023.11.10)">
            <a:extLst>
              <a:ext uri="{FF2B5EF4-FFF2-40B4-BE49-F238E27FC236}">
                <a16:creationId xmlns:a16="http://schemas.microsoft.com/office/drawing/2014/main" id="{06934CFD-C258-E39D-35A9-9579D54B5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4728" y="4718019"/>
            <a:ext cx="5607794" cy="70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6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38340-A9D7-24AF-9FDB-C930206AA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F1222D2-250A-A27F-BCC8-24401661C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C1093D5-7ABD-59CC-8CD2-114BA5AB3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0FFC409-F686-0540-9475-CC8088D05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3117850"/>
            <a:ext cx="13766800" cy="1460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4374F50-7B9F-6AE9-598E-80D8FE66C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4933950"/>
            <a:ext cx="13766800" cy="1460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26F2FB4-B752-12E9-2567-0B97B25EF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6750050"/>
            <a:ext cx="13766800" cy="13589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EA826E29-2B5C-065B-7D91-347622FCC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10991850"/>
            <a:ext cx="13766800" cy="1460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BC30598-3A8B-F90E-E116-5181043A9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8464550"/>
            <a:ext cx="13766800" cy="2171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038D0255-22CD-F392-40B6-2D84EDAA9CE5}"/>
              </a:ext>
            </a:extLst>
          </p:cNvPr>
          <p:cNvSpPr txBox="1"/>
          <p:nvPr/>
        </p:nvSpPr>
        <p:spPr>
          <a:xfrm>
            <a:off x="2057400" y="1028700"/>
            <a:ext cx="9855200" cy="3746500"/>
          </a:xfrm>
          <a:prstGeom prst="rect">
            <a:avLst/>
          </a:prstGeom>
        </p:spPr>
        <p:txBody>
          <a:bodyPr lIns="0" tIns="143933" rIns="0" bIns="0" rtlCol="0" anchor="t"/>
          <a:lstStyle/>
          <a:p>
            <a:pPr lvl="0">
              <a:lnSpc>
                <a:spcPct val="99600"/>
              </a:lnSpc>
            </a:pPr>
            <a:r>
              <a:rPr lang="en-US" altLang="ko-KR" sz="9600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SourceTree</a:t>
            </a:r>
            <a:br>
              <a:rPr lang="en-US" altLang="ko-KR" sz="9600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</a:br>
            <a:r>
              <a:rPr lang="ko-KR" altLang="en-US" sz="9600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특징</a:t>
            </a:r>
            <a:endParaRPr lang="en-US" sz="11333" b="0" i="0" u="none" strike="noStrike" spc="-200" dirty="0">
              <a:solidFill>
                <a:srgbClr val="006CD8"/>
              </a:solidFill>
              <a:latin typeface="Manrope ExtraBold"/>
              <a:ea typeface="Manrope ExtraBold"/>
              <a:cs typeface="Manrope Extra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6ED911A-0D62-3287-BAEC-6D113F8258F6}"/>
              </a:ext>
            </a:extLst>
          </p:cNvPr>
          <p:cNvSpPr txBox="1"/>
          <p:nvPr/>
        </p:nvSpPr>
        <p:spPr>
          <a:xfrm>
            <a:off x="10799243" y="3486150"/>
            <a:ext cx="12900125" cy="7112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marL="571500" lvl="1" indent="-571500">
              <a:lnSpc>
                <a:spcPct val="10458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ko-KR" altLang="ko-KR" sz="40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Git</a:t>
            </a: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명령어를 GUI 환경에서 쉽게 사용할 수 있습니다.</a:t>
            </a:r>
            <a:endParaRPr lang="en-US" sz="3999" b="0" i="0" u="none" strike="noStrike" spc="-100" dirty="0">
              <a:solidFill>
                <a:srgbClr val="21212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  <a:cs typeface="Manrope Semi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B33BF67-312C-1D5B-9B66-16B873CC68C4}"/>
              </a:ext>
            </a:extLst>
          </p:cNvPr>
          <p:cNvSpPr txBox="1"/>
          <p:nvPr/>
        </p:nvSpPr>
        <p:spPr>
          <a:xfrm>
            <a:off x="10615200" y="5302250"/>
            <a:ext cx="13766800" cy="7112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marL="571500" lvl="1" indent="-571500">
              <a:lnSpc>
                <a:spcPct val="10458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변경된 파일과 수정된 내용을 한눈에 </a:t>
            </a:r>
            <a:r>
              <a:rPr lang="ko-KR" altLang="en-US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확인 가능</a:t>
            </a:r>
            <a:endParaRPr lang="en-US" sz="4000" b="0" i="0" u="none" strike="noStrike" spc="-100" dirty="0">
              <a:solidFill>
                <a:srgbClr val="21212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  <a:cs typeface="Manrope Semi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176FE8E-2E16-BCB5-32D1-694E3BE9A1C9}"/>
              </a:ext>
            </a:extLst>
          </p:cNvPr>
          <p:cNvSpPr txBox="1"/>
          <p:nvPr/>
        </p:nvSpPr>
        <p:spPr>
          <a:xfrm>
            <a:off x="10615200" y="6750050"/>
            <a:ext cx="13727286" cy="1358900"/>
          </a:xfrm>
          <a:prstGeom prst="rect">
            <a:avLst/>
          </a:prstGeom>
        </p:spPr>
        <p:txBody>
          <a:bodyPr lIns="0" tIns="35560" rIns="0" bIns="0" rtlCol="0" anchor="ctr"/>
          <a:lstStyle/>
          <a:p>
            <a:pPr marL="571500" lvl="1" indent="-571500">
              <a:lnSpc>
                <a:spcPct val="10458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ko-KR" altLang="ko-KR" sz="40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Branch와</a:t>
            </a: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40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</a:t>
            </a: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관계를 그래프로 </a:t>
            </a:r>
            <a:r>
              <a:rPr lang="ko-KR" altLang="ko-KR" sz="40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시각화하여</a:t>
            </a: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보여</a:t>
            </a:r>
            <a:r>
              <a:rPr lang="ko-KR" altLang="en-US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줌</a:t>
            </a: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en-US" sz="4000" b="0" i="0" u="none" strike="noStrike" spc="-100" dirty="0">
              <a:solidFill>
                <a:srgbClr val="21212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  <a:cs typeface="Manrope Semi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A4DA935-A903-CEE1-B820-946D7B6344C8}"/>
              </a:ext>
            </a:extLst>
          </p:cNvPr>
          <p:cNvSpPr txBox="1"/>
          <p:nvPr/>
        </p:nvSpPr>
        <p:spPr>
          <a:xfrm>
            <a:off x="10699611" y="11360150"/>
            <a:ext cx="11700113" cy="7112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marL="571500" lvl="1" indent="-571500">
              <a:lnSpc>
                <a:spcPct val="10458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ko-KR" altLang="ko-KR" sz="40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Merge</a:t>
            </a: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ko-KR" sz="40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Conflict</a:t>
            </a: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해결 등 협업 기능을 지원</a:t>
            </a:r>
            <a:endParaRPr lang="en-US" sz="4000" b="0" i="0" u="none" strike="noStrike" spc="-100" dirty="0">
              <a:solidFill>
                <a:srgbClr val="21212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  <a:cs typeface="Manrope Semi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63FC2D4-DEDE-BBE4-2F2C-948FC6B91CCD}"/>
              </a:ext>
            </a:extLst>
          </p:cNvPr>
          <p:cNvSpPr txBox="1"/>
          <p:nvPr/>
        </p:nvSpPr>
        <p:spPr>
          <a:xfrm>
            <a:off x="10656714" y="8870950"/>
            <a:ext cx="12355686" cy="1358900"/>
          </a:xfrm>
          <a:prstGeom prst="rect">
            <a:avLst/>
          </a:prstGeom>
        </p:spPr>
        <p:txBody>
          <a:bodyPr lIns="0" tIns="35560" rIns="0" bIns="0" rtlCol="0" anchor="t"/>
          <a:lstStyle/>
          <a:p>
            <a:pPr marL="571500" lvl="1" indent="-571500">
              <a:lnSpc>
                <a:spcPct val="10458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GitHub, </a:t>
            </a:r>
            <a:r>
              <a:rPr lang="ko-KR" altLang="ko-KR" sz="40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GitLab</a:t>
            </a: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ko-KR" sz="40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Bitbucket</a:t>
            </a:r>
            <a:r>
              <a:rPr lang="ko-KR" altLang="ko-KR" sz="40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등 다양한 원격 저장소와 연동할 수 있습니다.</a:t>
            </a:r>
            <a:endParaRPr lang="en-US" sz="4000" b="0" i="0" u="none" strike="noStrike" spc="-100" dirty="0">
              <a:solidFill>
                <a:srgbClr val="21212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  <a:cs typeface="Manrope SemiBold"/>
            </a:endParaRPr>
          </a:p>
        </p:txBody>
      </p:sp>
      <p:pic>
        <p:nvPicPr>
          <p:cNvPr id="17" name="그림 16" descr="SourceTree 소스트리 사용법_(수정: 2023.11.10)">
            <a:extLst>
              <a:ext uri="{FF2B5EF4-FFF2-40B4-BE49-F238E27FC236}">
                <a16:creationId xmlns:a16="http://schemas.microsoft.com/office/drawing/2014/main" id="{9E0623BD-905C-DCA6-D40D-C9CBFB0F3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1289" y="6223000"/>
            <a:ext cx="3666772" cy="461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1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0BAF-7F75-8B8E-D034-06146E6A3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1C73186-171E-A458-7423-A842350DC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D41A53E-944E-B6E5-06E0-E4B9FB64E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99E4FDC3-A9DC-26D0-C684-9A02AB9E8A7E}"/>
              </a:ext>
            </a:extLst>
          </p:cNvPr>
          <p:cNvSpPr txBox="1"/>
          <p:nvPr/>
        </p:nvSpPr>
        <p:spPr>
          <a:xfrm>
            <a:off x="2222500" y="787400"/>
            <a:ext cx="102743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sz="8266" b="0" i="0" u="none" strike="noStrike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GUI </a:t>
            </a:r>
            <a:r>
              <a:rPr kumimoji="0" lang="en-US" altLang="ko-KR" sz="4800" b="0" i="0" u="none" strike="noStrike" kern="1200" cap="none" spc="-100" normalizeH="0" baseline="0" noProof="0" dirty="0">
                <a:ln>
                  <a:noFill/>
                </a:ln>
                <a:solidFill>
                  <a:srgbClr val="006CD8"/>
                </a:solidFill>
                <a:effectLst/>
                <a:uLnTx/>
                <a:uFillTx/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–</a:t>
            </a:r>
            <a:r>
              <a:rPr lang="en-US" altLang="ko-KR" sz="4800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GUI</a:t>
            </a:r>
            <a:r>
              <a:rPr kumimoji="0" lang="ko-KR" altLang="en-US" sz="4800" b="0" i="0" u="none" strike="noStrike" kern="1200" cap="none" spc="-100" normalizeH="0" baseline="0" noProof="0" dirty="0">
                <a:ln>
                  <a:noFill/>
                </a:ln>
                <a:solidFill>
                  <a:srgbClr val="006CD8"/>
                </a:solidFill>
                <a:effectLst/>
                <a:uLnTx/>
                <a:uFillTx/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란</a:t>
            </a:r>
            <a:r>
              <a:rPr kumimoji="0" lang="en-US" altLang="ko-KR" sz="4800" b="0" i="0" u="none" strike="noStrike" kern="1200" cap="none" spc="-100" normalizeH="0" baseline="0" noProof="0" dirty="0">
                <a:ln>
                  <a:noFill/>
                </a:ln>
                <a:solidFill>
                  <a:srgbClr val="006CD8"/>
                </a:solidFill>
                <a:effectLst/>
                <a:uLnTx/>
                <a:uFillTx/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?</a:t>
            </a:r>
            <a:endParaRPr lang="en-US" sz="8266" b="0" i="0" u="none" strike="noStrike" spc="-100" dirty="0">
              <a:solidFill>
                <a:srgbClr val="006CD8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Manrope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A54389-BD43-896C-9792-23529F7EB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224" y="4109859"/>
            <a:ext cx="9105284" cy="8481317"/>
          </a:xfrm>
          <a:prstGeom prst="rect">
            <a:avLst/>
          </a:prstGeom>
          <a:effectLst>
            <a:outerShdw blurRad="508000" dist="38100" dir="2700000" algn="tl" rotWithShape="0">
              <a:prstClr val="black">
                <a:alpha val="55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60C5BF-4F2B-8F22-3670-210022A40018}"/>
              </a:ext>
            </a:extLst>
          </p:cNvPr>
          <p:cNvSpPr txBox="1"/>
          <p:nvPr/>
        </p:nvSpPr>
        <p:spPr>
          <a:xfrm>
            <a:off x="12487072" y="6365358"/>
            <a:ext cx="122082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아이콘, 버튼,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창 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등을 이용해 컴퓨터를 조작하는 방식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명령어를 직접 입력하지 않고 마우스로 쉽게 사용할 수 있음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직관적인 화면으로 초보자도 쉽게 접근 가능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SourceTree도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GUI 기반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Git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도구</a:t>
            </a:r>
            <a:endParaRPr lang="ko-KR" altLang="en-US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342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F8EF-62F0-9155-6FCF-6EDEF709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9C1D4AD-E386-302A-A1B1-35D27D539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F93648C-360C-435F-1C8D-A3C1145A0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535E71FA-E940-9C18-2905-0F785005C54B}"/>
              </a:ext>
            </a:extLst>
          </p:cNvPr>
          <p:cNvSpPr txBox="1"/>
          <p:nvPr/>
        </p:nvSpPr>
        <p:spPr>
          <a:xfrm>
            <a:off x="2222500" y="787400"/>
            <a:ext cx="102743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sz="8266" b="0" i="0" u="none" strike="noStrike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GUI </a:t>
            </a:r>
            <a:r>
              <a:rPr kumimoji="0" lang="en-US" altLang="ko-KR" sz="4800" b="0" i="0" u="none" strike="noStrike" kern="1200" cap="none" spc="-100" normalizeH="0" baseline="0" noProof="0" dirty="0">
                <a:ln>
                  <a:noFill/>
                </a:ln>
                <a:solidFill>
                  <a:srgbClr val="006CD8"/>
                </a:solidFill>
                <a:effectLst/>
                <a:uLnTx/>
                <a:uFillTx/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–CLI</a:t>
            </a:r>
            <a:r>
              <a:rPr kumimoji="0" lang="ko-KR" altLang="en-US" sz="4800" b="0" i="0" u="none" strike="noStrike" kern="1200" cap="none" spc="-100" normalizeH="0" baseline="0" noProof="0" dirty="0">
                <a:ln>
                  <a:noFill/>
                </a:ln>
                <a:solidFill>
                  <a:srgbClr val="006CD8"/>
                </a:solidFill>
                <a:effectLst/>
                <a:uLnTx/>
                <a:uFillTx/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와의 차이</a:t>
            </a:r>
            <a:endParaRPr lang="en-US" sz="8266" b="0" i="0" u="none" strike="noStrike" spc="-100" dirty="0">
              <a:solidFill>
                <a:srgbClr val="006CD8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Manrope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7C6E54-9F4E-74DB-C37C-A43E880984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400" y="3752445"/>
            <a:ext cx="6203332" cy="5778230"/>
          </a:xfrm>
          <a:prstGeom prst="rect">
            <a:avLst/>
          </a:prstGeom>
          <a:effectLst>
            <a:outerShdw blurRad="508000" dist="38100" dir="2700000" algn="tl" rotWithShape="0">
              <a:prstClr val="black">
                <a:alpha val="55000"/>
              </a:prst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D4D7C74-CE87-BD05-3C4C-AB8C86CF9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4743703"/>
            <a:ext cx="7484899" cy="3795713"/>
          </a:xfrm>
          <a:prstGeom prst="rect">
            <a:avLst/>
          </a:prstGeom>
          <a:effectLst>
            <a:outerShdw blurRad="571500" dist="38100" dir="2700000" algn="tl" rotWithShape="0">
              <a:prstClr val="black">
                <a:alpha val="6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BF88FE-4180-A116-04F2-3DD0B97810CF}"/>
              </a:ext>
            </a:extLst>
          </p:cNvPr>
          <p:cNvSpPr txBox="1"/>
          <p:nvPr/>
        </p:nvSpPr>
        <p:spPr>
          <a:xfrm>
            <a:off x="1752600" y="10169616"/>
            <a:ext cx="122082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CLI (</a:t>
            </a:r>
            <a:r>
              <a:rPr lang="ko-KR" altLang="ko-KR" sz="36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Command</a:t>
            </a: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36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Line</a:t>
            </a: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36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Interface</a:t>
            </a: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키보드로 명령어를 입력하여 작업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Git의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모든 기능을 사용할 수 있음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익숙해지면 작업 속도가 빠름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초보자에게는 명령어를 익히는 과정이 필요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1D3E85-A8D6-BF4D-838E-38628FC12FF1}"/>
              </a:ext>
            </a:extLst>
          </p:cNvPr>
          <p:cNvSpPr txBox="1"/>
          <p:nvPr/>
        </p:nvSpPr>
        <p:spPr>
          <a:xfrm>
            <a:off x="12954000" y="10169616"/>
            <a:ext cx="122082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GUI (</a:t>
            </a:r>
            <a:r>
              <a:rPr lang="ko-KR" altLang="ko-KR" sz="36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Graphical</a:t>
            </a: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36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User</a:t>
            </a: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36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Interface</a:t>
            </a: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버튼과 메뉴를 클릭하여 작업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현재 상태를 화면으로 쉽게 확인 가능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초보자도 직관적으로 사용 가능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복잡한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Git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작업을 쉽게 수행 가능</a:t>
            </a:r>
          </a:p>
        </p:txBody>
      </p:sp>
    </p:spTree>
    <p:extLst>
      <p:ext uri="{BB962C8B-B14F-4D97-AF65-F5344CB8AC3E}">
        <p14:creationId xmlns:p14="http://schemas.microsoft.com/office/powerpoint/2010/main" val="1592237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23DD-B0E2-3F70-094B-31B90C14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EF4461C-61F3-FE07-083B-23485FC89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FF8803E-2E33-ED42-7A88-71F97CE6A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14154257-04C4-B3B5-3ED9-35118ABC757F}"/>
              </a:ext>
            </a:extLst>
          </p:cNvPr>
          <p:cNvSpPr txBox="1"/>
          <p:nvPr/>
        </p:nvSpPr>
        <p:spPr>
          <a:xfrm>
            <a:off x="2222500" y="787400"/>
            <a:ext cx="151511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sz="8266" b="0" i="0" u="none" strike="noStrike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SourceTree </a:t>
            </a:r>
            <a:r>
              <a:rPr lang="ko-KR" altLang="en-US" sz="8266" b="0" i="0" u="none" strike="noStrike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사용법 </a:t>
            </a:r>
            <a:r>
              <a:rPr kumimoji="0" lang="en-US" altLang="ko-KR" sz="4800" b="0" i="0" u="none" strike="noStrike" kern="1200" cap="none" spc="-100" normalizeH="0" baseline="0" noProof="0" dirty="0">
                <a:ln>
                  <a:noFill/>
                </a:ln>
                <a:solidFill>
                  <a:srgbClr val="006CD8"/>
                </a:solidFill>
                <a:effectLst/>
                <a:uLnTx/>
                <a:uFillTx/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–</a:t>
            </a:r>
            <a:r>
              <a:rPr kumimoji="0" lang="ko-KR" altLang="en-US" sz="4800" b="0" i="0" u="none" strike="noStrike" kern="1200" cap="none" spc="-100" normalizeH="0" baseline="0" noProof="0" dirty="0">
                <a:ln>
                  <a:noFill/>
                </a:ln>
                <a:solidFill>
                  <a:srgbClr val="006CD8"/>
                </a:solidFill>
                <a:effectLst/>
                <a:uLnTx/>
                <a:uFillTx/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저장소 생성</a:t>
            </a:r>
            <a:endParaRPr lang="en-US" sz="8266" b="0" i="0" u="none" strike="noStrike" spc="-100" dirty="0">
              <a:solidFill>
                <a:srgbClr val="006CD8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Manrope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E55156-8A5D-2E84-5F5E-F7D1453DF5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5419523"/>
            <a:ext cx="7506748" cy="4934639"/>
          </a:xfrm>
          <a:prstGeom prst="rect">
            <a:avLst/>
          </a:prstGeom>
          <a:effectLst>
            <a:outerShdw blurRad="508000" dist="38100" dir="2700000" algn="tl" rotWithShape="0">
              <a:prstClr val="black">
                <a:alpha val="55000"/>
              </a:prst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4F2A37-C0F2-F941-4266-870F5482A4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0" y="4390679"/>
            <a:ext cx="7506748" cy="6992326"/>
          </a:xfrm>
          <a:prstGeom prst="rect">
            <a:avLst/>
          </a:prstGeom>
          <a:effectLst>
            <a:outerShdw blurRad="508000" dist="38100" dir="2700000" algn="tl" rotWithShape="0">
              <a:prstClr val="black">
                <a:alpha val="55000"/>
              </a:prst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9164E00-7CF0-A617-68C5-B96FC208A80B}"/>
              </a:ext>
            </a:extLst>
          </p:cNvPr>
          <p:cNvSpPr/>
          <p:nvPr/>
        </p:nvSpPr>
        <p:spPr>
          <a:xfrm>
            <a:off x="14976000" y="8077200"/>
            <a:ext cx="2286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B63654-7C85-3BE2-DE17-3150D44EDB14}"/>
              </a:ext>
            </a:extLst>
          </p:cNvPr>
          <p:cNvSpPr/>
          <p:nvPr/>
        </p:nvSpPr>
        <p:spPr>
          <a:xfrm>
            <a:off x="5486400" y="5956300"/>
            <a:ext cx="1905000" cy="596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620E6C-57C5-52BD-496E-A23EC1D54E9E}"/>
              </a:ext>
            </a:extLst>
          </p:cNvPr>
          <p:cNvSpPr/>
          <p:nvPr/>
        </p:nvSpPr>
        <p:spPr>
          <a:xfrm>
            <a:off x="19735800" y="6680200"/>
            <a:ext cx="1066800" cy="406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269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14A55-E58A-87C2-2C9B-C845B5F8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598100E-610D-5189-C455-127BD43D2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5AB800B-F34A-2F0B-7E92-D4E8BFD49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33846AF6-5E48-02F5-213F-2CAD1C2AA2B0}"/>
              </a:ext>
            </a:extLst>
          </p:cNvPr>
          <p:cNvSpPr txBox="1"/>
          <p:nvPr/>
        </p:nvSpPr>
        <p:spPr>
          <a:xfrm>
            <a:off x="2222500" y="787400"/>
            <a:ext cx="160655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>
              <a:lnSpc>
                <a:spcPct val="109559"/>
              </a:lnSpc>
            </a:pPr>
            <a:r>
              <a:rPr lang="en-US" altLang="ko-KR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SourceTree </a:t>
            </a:r>
            <a:r>
              <a:rPr lang="ko-KR" altLang="en-US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사용법 </a:t>
            </a:r>
            <a:r>
              <a:rPr lang="en-US" altLang="ko-KR" sz="4800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–</a:t>
            </a:r>
            <a:r>
              <a:rPr lang="ko-KR" altLang="en-US" sz="4800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화면 구성</a:t>
            </a:r>
            <a:endParaRPr lang="en-US" altLang="ko-KR" sz="8266" spc="-100" dirty="0">
              <a:solidFill>
                <a:srgbClr val="006CD8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Manrope ExtraBold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3716793-C79E-D428-F2EA-D9E50209BEE2}"/>
              </a:ext>
            </a:extLst>
          </p:cNvPr>
          <p:cNvGrpSpPr/>
          <p:nvPr/>
        </p:nvGrpSpPr>
        <p:grpSpPr>
          <a:xfrm>
            <a:off x="2529224" y="4109859"/>
            <a:ext cx="9699751" cy="8481317"/>
            <a:chOff x="2438400" y="4343400"/>
            <a:chExt cx="7996850" cy="699232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61F6F49-FE40-CDF8-04FA-601F034D7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8400" y="4343400"/>
              <a:ext cx="7506748" cy="6992326"/>
            </a:xfrm>
            <a:prstGeom prst="rect">
              <a:avLst/>
            </a:prstGeom>
            <a:effectLst>
              <a:outerShdw blurRad="508000" dist="38100" dir="2700000" algn="tl" rotWithShape="0">
                <a:prstClr val="black">
                  <a:alpha val="55000"/>
                </a:prstClr>
              </a:outerShdw>
            </a:effectLst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9916E12-D44A-07F9-2376-4F133B09F165}"/>
                </a:ext>
              </a:extLst>
            </p:cNvPr>
            <p:cNvSpPr/>
            <p:nvPr/>
          </p:nvSpPr>
          <p:spPr>
            <a:xfrm>
              <a:off x="3276600" y="4572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solidFill>
                    <a:schemeClr val="tx1"/>
                  </a:solidFill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</a:rPr>
                <a:t>2</a:t>
              </a:r>
              <a:endParaRPr lang="ko-KR" altLang="en-US" sz="2800" dirty="0">
                <a:solidFill>
                  <a:schemeClr val="tx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1879216-BDD4-D3ED-8C7A-1E76CEB312CF}"/>
                </a:ext>
              </a:extLst>
            </p:cNvPr>
            <p:cNvSpPr/>
            <p:nvPr/>
          </p:nvSpPr>
          <p:spPr>
            <a:xfrm>
              <a:off x="3810000" y="4572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solidFill>
                    <a:schemeClr val="tx1"/>
                  </a:solidFill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</a:rPr>
                <a:t>3</a:t>
              </a:r>
              <a:endParaRPr lang="ko-KR" altLang="en-US" sz="2800" dirty="0">
                <a:solidFill>
                  <a:schemeClr val="tx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1E6FB74-8B1C-9447-0993-BC95479474FA}"/>
                </a:ext>
              </a:extLst>
            </p:cNvPr>
            <p:cNvSpPr/>
            <p:nvPr/>
          </p:nvSpPr>
          <p:spPr>
            <a:xfrm>
              <a:off x="4343400" y="4572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solidFill>
                    <a:schemeClr val="tx1"/>
                  </a:solidFill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</a:rPr>
                <a:t>4</a:t>
              </a:r>
              <a:endParaRPr lang="ko-KR" altLang="en-US" sz="2800" dirty="0">
                <a:solidFill>
                  <a:schemeClr val="tx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C6A25542-3770-6761-E841-F31A217F3401}"/>
                </a:ext>
              </a:extLst>
            </p:cNvPr>
            <p:cNvSpPr/>
            <p:nvPr/>
          </p:nvSpPr>
          <p:spPr>
            <a:xfrm>
              <a:off x="5105400" y="4572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solidFill>
                    <a:schemeClr val="tx1"/>
                  </a:solidFill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</a:rPr>
                <a:t>5</a:t>
              </a:r>
              <a:endParaRPr lang="ko-KR" altLang="en-US" sz="2800" dirty="0">
                <a:solidFill>
                  <a:schemeClr val="tx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DF8F58A-4E47-D75E-EB84-6B8BE879C80F}"/>
                </a:ext>
              </a:extLst>
            </p:cNvPr>
            <p:cNvSpPr/>
            <p:nvPr/>
          </p:nvSpPr>
          <p:spPr>
            <a:xfrm>
              <a:off x="5611200" y="45720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solidFill>
                    <a:schemeClr val="tx1"/>
                  </a:solidFill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</a:rPr>
                <a:t>6</a:t>
              </a:r>
              <a:endParaRPr lang="ko-KR" altLang="en-US" sz="2800" dirty="0">
                <a:solidFill>
                  <a:schemeClr val="tx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endParaRPr>
            </a:p>
          </p:txBody>
        </p:sp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6FF60B23-BEFF-E2C8-5D73-4B749D6A579F}"/>
                </a:ext>
              </a:extLst>
            </p:cNvPr>
            <p:cNvSpPr/>
            <p:nvPr/>
          </p:nvSpPr>
          <p:spPr>
            <a:xfrm>
              <a:off x="10075250" y="10538800"/>
              <a:ext cx="360000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solidFill>
                    <a:schemeClr val="tx1"/>
                  </a:solidFill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</a:rPr>
                <a:t>7</a:t>
              </a:r>
              <a:endParaRPr lang="ko-KR" altLang="en-US" sz="2800" dirty="0">
                <a:solidFill>
                  <a:schemeClr val="tx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51084CF-C031-51ED-ED42-1372435770A0}"/>
                </a:ext>
              </a:extLst>
            </p:cNvPr>
            <p:cNvSpPr/>
            <p:nvPr/>
          </p:nvSpPr>
          <p:spPr>
            <a:xfrm>
              <a:off x="4512900" y="10160000"/>
              <a:ext cx="5432248" cy="117572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C10FF05-EA70-37B3-F574-4EAC04E25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772201"/>
              </p:ext>
            </p:extLst>
          </p:nvPr>
        </p:nvGraphicFramePr>
        <p:xfrm>
          <a:off x="13258800" y="4788104"/>
          <a:ext cx="8458200" cy="7124826"/>
        </p:xfrm>
        <a:graphic>
          <a:graphicData uri="http://schemas.openxmlformats.org/drawingml/2006/table">
            <a:tbl>
              <a:tblPr/>
              <a:tblGrid>
                <a:gridCol w="4229100">
                  <a:extLst>
                    <a:ext uri="{9D8B030D-6E8A-4147-A177-3AD203B41FA5}">
                      <a16:colId xmlns:a16="http://schemas.microsoft.com/office/drawing/2014/main" val="4010240842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86823317"/>
                    </a:ext>
                  </a:extLst>
                </a:gridCol>
              </a:tblGrid>
              <a:tr h="4276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1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번호</a:t>
                      </a:r>
                    </a:p>
                  </a:txBody>
                  <a:tcPr marL="41344" marR="41344" marT="20673" marB="2067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1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기능</a:t>
                      </a:r>
                    </a:p>
                  </a:txBody>
                  <a:tcPr marL="41344" marR="41344" marT="20673" marB="20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688531"/>
                  </a:ext>
                </a:extLst>
              </a:tr>
              <a:tr h="908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① </a:t>
                      </a:r>
                      <a:r>
                        <a:rPr lang="en-US" alt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Commit</a:t>
                      </a:r>
                      <a:endParaRPr lang="ko-KR" sz="3600" b="0" dirty="0">
                        <a:latin typeface="나눔스퀘어OTF_ac" panose="020B0600000101010101" pitchFamily="34" charset="-127"/>
                        <a:ea typeface="나눔스퀘어OTF_ac" panose="020B0600000101010101" pitchFamily="34" charset="-127"/>
                      </a:endParaRPr>
                    </a:p>
                  </a:txBody>
                  <a:tcPr marL="41344" marR="41344" marT="20673" marB="2067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변경 사항 </a:t>
                      </a:r>
                      <a:r>
                        <a:rPr lang="ko-KR" altLang="en-US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저장</a:t>
                      </a:r>
                      <a:endParaRPr lang="ko-KR" sz="3600" b="0" dirty="0">
                        <a:latin typeface="나눔스퀘어OTF_ac" panose="020B0600000101010101" pitchFamily="34" charset="-127"/>
                        <a:ea typeface="나눔스퀘어OTF_ac" panose="020B0600000101010101" pitchFamily="34" charset="-127"/>
                      </a:endParaRPr>
                    </a:p>
                  </a:txBody>
                  <a:tcPr marL="41344" marR="41344" marT="20673" marB="20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532060"/>
                  </a:ext>
                </a:extLst>
              </a:tr>
              <a:tr h="908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② </a:t>
                      </a:r>
                      <a:r>
                        <a:rPr lang="ko-KR" sz="3600" b="0" dirty="0" err="1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Pull</a:t>
                      </a:r>
                      <a:endParaRPr lang="ko-KR" sz="3600" b="0" dirty="0">
                        <a:latin typeface="나눔스퀘어OTF_ac" panose="020B0600000101010101" pitchFamily="34" charset="-127"/>
                        <a:ea typeface="나눔스퀘어OTF_ac" panose="020B0600000101010101" pitchFamily="34" charset="-127"/>
                      </a:endParaRPr>
                    </a:p>
                  </a:txBody>
                  <a:tcPr marL="41344" marR="41344" marT="20673" marB="2067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최신 변경 사항 가져오기</a:t>
                      </a:r>
                    </a:p>
                  </a:txBody>
                  <a:tcPr marL="41344" marR="41344" marT="20673" marB="20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251513"/>
                  </a:ext>
                </a:extLst>
              </a:tr>
              <a:tr h="908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③ </a:t>
                      </a:r>
                      <a:r>
                        <a:rPr lang="ko-KR" sz="3600" b="0" dirty="0" err="1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Push</a:t>
                      </a:r>
                      <a:endParaRPr lang="ko-KR" sz="3600" b="0" dirty="0">
                        <a:latin typeface="나눔스퀘어OTF_ac" panose="020B0600000101010101" pitchFamily="34" charset="-127"/>
                        <a:ea typeface="나눔스퀘어OTF_ac" panose="020B0600000101010101" pitchFamily="34" charset="-127"/>
                      </a:endParaRPr>
                    </a:p>
                  </a:txBody>
                  <a:tcPr marL="41344" marR="41344" marT="20673" marB="2067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변경 사항 업로드</a:t>
                      </a:r>
                    </a:p>
                  </a:txBody>
                  <a:tcPr marL="41344" marR="41344" marT="20673" marB="20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896819"/>
                  </a:ext>
                </a:extLst>
              </a:tr>
              <a:tr h="908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④ </a:t>
                      </a:r>
                      <a:r>
                        <a:rPr lang="ko-KR" sz="3600" b="0" dirty="0" err="1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Fetch</a:t>
                      </a:r>
                      <a:endParaRPr lang="ko-KR" sz="3600" b="0" dirty="0">
                        <a:latin typeface="나눔스퀘어OTF_ac" panose="020B0600000101010101" pitchFamily="34" charset="-127"/>
                        <a:ea typeface="나눔스퀘어OTF_ac" panose="020B0600000101010101" pitchFamily="34" charset="-127"/>
                      </a:endParaRPr>
                    </a:p>
                  </a:txBody>
                  <a:tcPr marL="41344" marR="41344" marT="20673" marB="2067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변경 사항 확인</a:t>
                      </a:r>
                    </a:p>
                  </a:txBody>
                  <a:tcPr marL="41344" marR="41344" marT="20673" marB="20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517249"/>
                  </a:ext>
                </a:extLst>
              </a:tr>
              <a:tr h="7654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⑤ </a:t>
                      </a:r>
                      <a:r>
                        <a:rPr lang="ko-KR" sz="3600" b="0" dirty="0" err="1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브랜치</a:t>
                      </a: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(</a:t>
                      </a:r>
                      <a:r>
                        <a:rPr lang="ko-KR" sz="3600" b="0" dirty="0" err="1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Branch</a:t>
                      </a: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)</a:t>
                      </a:r>
                    </a:p>
                  </a:txBody>
                  <a:tcPr marL="41344" marR="41344" marT="20673" marB="2067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 err="1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브랜치</a:t>
                      </a: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 관리</a:t>
                      </a:r>
                    </a:p>
                  </a:txBody>
                  <a:tcPr marL="41344" marR="41344" marT="20673" marB="20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096009"/>
                  </a:ext>
                </a:extLst>
              </a:tr>
              <a:tr h="7654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⑥ 병합(</a:t>
                      </a:r>
                      <a:r>
                        <a:rPr lang="ko-KR" sz="3600" b="0" dirty="0" err="1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Merge</a:t>
                      </a: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)</a:t>
                      </a:r>
                    </a:p>
                  </a:txBody>
                  <a:tcPr marL="41344" marR="41344" marT="20673" marB="2067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 err="1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브랜치</a:t>
                      </a: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 합치기</a:t>
                      </a:r>
                    </a:p>
                  </a:txBody>
                  <a:tcPr marL="41344" marR="41344" marT="20673" marB="20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840334"/>
                  </a:ext>
                </a:extLst>
              </a:tr>
              <a:tr h="7654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⑦ </a:t>
                      </a:r>
                      <a:r>
                        <a:rPr lang="ko-KR" sz="3600" b="0" dirty="0" err="1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Commit</a:t>
                      </a: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 </a:t>
                      </a:r>
                      <a:r>
                        <a:rPr lang="ko-KR" altLang="en-US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메시지 작성</a:t>
                      </a:r>
                      <a:endParaRPr lang="ko-KR" sz="3600" b="0" dirty="0">
                        <a:latin typeface="나눔스퀘어OTF_ac" panose="020B0600000101010101" pitchFamily="34" charset="-127"/>
                        <a:ea typeface="나눔스퀘어OTF_ac" panose="020B0600000101010101" pitchFamily="34" charset="-127"/>
                      </a:endParaRPr>
                    </a:p>
                  </a:txBody>
                  <a:tcPr marL="41344" marR="41344" marT="20673" marB="2067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변경 사항 </a:t>
                      </a:r>
                      <a:r>
                        <a:rPr lang="ko-KR" altLang="en-US" sz="3600" b="0" dirty="0">
                          <a:latin typeface="나눔스퀘어OTF_ac" panose="020B0600000101010101" pitchFamily="34" charset="-127"/>
                          <a:ea typeface="나눔스퀘어OTF_ac" panose="020B0600000101010101" pitchFamily="34" charset="-127"/>
                        </a:rPr>
                        <a:t>내용 작성</a:t>
                      </a:r>
                      <a:endParaRPr lang="ko-KR" sz="3600" b="0" dirty="0">
                        <a:latin typeface="나눔스퀘어OTF_ac" panose="020B0600000101010101" pitchFamily="34" charset="-127"/>
                        <a:ea typeface="나눔스퀘어OTF_ac" panose="020B0600000101010101" pitchFamily="34" charset="-127"/>
                      </a:endParaRPr>
                    </a:p>
                  </a:txBody>
                  <a:tcPr marL="41344" marR="41344" marT="20673" marB="20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20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4265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9CAE5-A606-C811-7A45-BFD1A3657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71803EF5-22BD-7BAE-86AA-BA58C5E1D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AB9750A-C87E-DF6D-2DA0-A0384CCAE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EA404A87-7B90-5B86-831A-E7FD690A05C8}"/>
              </a:ext>
            </a:extLst>
          </p:cNvPr>
          <p:cNvSpPr txBox="1"/>
          <p:nvPr/>
        </p:nvSpPr>
        <p:spPr>
          <a:xfrm>
            <a:off x="2222500" y="787400"/>
            <a:ext cx="160655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>
              <a:lnSpc>
                <a:spcPct val="109559"/>
              </a:lnSpc>
            </a:pPr>
            <a:r>
              <a:rPr lang="en-US" altLang="ko-KR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SourceTree </a:t>
            </a:r>
            <a:r>
              <a:rPr lang="ko-KR" altLang="en-US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사용법 </a:t>
            </a:r>
            <a:r>
              <a:rPr lang="en-US" altLang="ko-KR" sz="4800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–</a:t>
            </a:r>
            <a:r>
              <a:rPr lang="ko-KR" altLang="en-US" sz="4800" spc="-100" dirty="0" err="1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스테이징</a:t>
            </a:r>
            <a:r>
              <a:rPr lang="ko-KR" altLang="en-US" sz="4800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 </a:t>
            </a:r>
            <a:r>
              <a:rPr lang="en-US" altLang="ko-KR" sz="4800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&amp; </a:t>
            </a:r>
            <a:r>
              <a:rPr lang="ko-KR" altLang="en-US" sz="4800" spc="-100" dirty="0" err="1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커밋</a:t>
            </a:r>
            <a:endParaRPr lang="en-US" altLang="ko-KR" sz="8266" spc="-100" dirty="0">
              <a:solidFill>
                <a:srgbClr val="006CD8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Manrope 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9AA00B-ADDA-A852-810C-7B7641219E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5946032"/>
            <a:ext cx="8809166" cy="47727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2AFD5E3-C76E-E932-9CB9-553DBDE538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3417" y="5946032"/>
            <a:ext cx="8809166" cy="477276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9649DBB-6AEB-BFCE-9248-22AC667F788F}"/>
              </a:ext>
            </a:extLst>
          </p:cNvPr>
          <p:cNvSpPr/>
          <p:nvPr/>
        </p:nvSpPr>
        <p:spPr>
          <a:xfrm>
            <a:off x="15571875" y="10058401"/>
            <a:ext cx="7120707" cy="660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D440BA-D358-E3A2-3647-76540C119292}"/>
              </a:ext>
            </a:extLst>
          </p:cNvPr>
          <p:cNvSpPr/>
          <p:nvPr/>
        </p:nvSpPr>
        <p:spPr>
          <a:xfrm>
            <a:off x="4038600" y="6781800"/>
            <a:ext cx="3886200" cy="3200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229EAC-0249-9FCE-F416-D5EF09B8FE9C}"/>
              </a:ext>
            </a:extLst>
          </p:cNvPr>
          <p:cNvSpPr/>
          <p:nvPr/>
        </p:nvSpPr>
        <p:spPr>
          <a:xfrm>
            <a:off x="5562600" y="8381999"/>
            <a:ext cx="2209800" cy="2398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63500F-FFA8-B2BE-A939-74574B527B23}"/>
              </a:ext>
            </a:extLst>
          </p:cNvPr>
          <p:cNvSpPr/>
          <p:nvPr/>
        </p:nvSpPr>
        <p:spPr>
          <a:xfrm>
            <a:off x="15240000" y="6781800"/>
            <a:ext cx="3886200" cy="3200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90BEE-D099-621A-23D6-9717B397D17F}"/>
              </a:ext>
            </a:extLst>
          </p:cNvPr>
          <p:cNvSpPr txBox="1"/>
          <p:nvPr/>
        </p:nvSpPr>
        <p:spPr>
          <a:xfrm>
            <a:off x="964698" y="11232970"/>
            <a:ext cx="122137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 </a:t>
            </a:r>
            <a:r>
              <a:rPr lang="ko-KR" altLang="ko-KR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변경된 파일을 </a:t>
            </a:r>
            <a:r>
              <a:rPr lang="ko-KR" altLang="ko-KR" sz="24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File</a:t>
            </a:r>
            <a:r>
              <a:rPr lang="ko-KR" altLang="ko-KR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24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Status에서</a:t>
            </a:r>
            <a:r>
              <a:rPr lang="ko-KR" altLang="ko-KR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확인</a:t>
            </a:r>
            <a:endParaRPr lang="en-US" altLang="ko-KR" sz="2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 </a:t>
            </a:r>
            <a:r>
              <a:rPr lang="ko-KR" altLang="ko-KR" sz="24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Commit할</a:t>
            </a:r>
            <a:r>
              <a:rPr lang="ko-KR" altLang="ko-KR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파일만 </a:t>
            </a:r>
            <a:r>
              <a:rPr lang="ko-KR" altLang="ko-KR" sz="24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Stage</a:t>
            </a:r>
            <a:r>
              <a:rPr lang="ko-KR" altLang="ko-KR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영역으로 이동합니다.</a:t>
            </a:r>
            <a:endParaRPr lang="ko-KR" altLang="en-US" sz="2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08C4AC-9FB8-5D9B-F45C-F70CB856823C}"/>
              </a:ext>
            </a:extLst>
          </p:cNvPr>
          <p:cNvSpPr txBox="1"/>
          <p:nvPr/>
        </p:nvSpPr>
        <p:spPr>
          <a:xfrm>
            <a:off x="14565085" y="11232970"/>
            <a:ext cx="74458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 Commit Message</a:t>
            </a:r>
            <a:r>
              <a:rPr lang="ko-KR" altLang="en-US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작성</a:t>
            </a:r>
            <a:endParaRPr lang="en-US" altLang="ko-KR" sz="2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 Commit </a:t>
            </a:r>
            <a:r>
              <a:rPr lang="ko-KR" altLang="en-US" sz="2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버튼을 눌러 변경 사항을 저장</a:t>
            </a:r>
          </a:p>
        </p:txBody>
      </p:sp>
    </p:spTree>
    <p:extLst>
      <p:ext uri="{BB962C8B-B14F-4D97-AF65-F5344CB8AC3E}">
        <p14:creationId xmlns:p14="http://schemas.microsoft.com/office/powerpoint/2010/main" val="370711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45F76-6FBD-349C-0627-97139C2F6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2531E1F5-06E4-3376-B2DD-28FEDD449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98494A1-0D6A-A4E6-E931-A7ACD8017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50F66A2A-CA47-6236-D128-4FF018AA9C30}"/>
              </a:ext>
            </a:extLst>
          </p:cNvPr>
          <p:cNvSpPr txBox="1"/>
          <p:nvPr/>
        </p:nvSpPr>
        <p:spPr>
          <a:xfrm>
            <a:off x="2222500" y="787400"/>
            <a:ext cx="160655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>
              <a:lnSpc>
                <a:spcPct val="109559"/>
              </a:lnSpc>
            </a:pPr>
            <a:r>
              <a:rPr lang="en-US" altLang="ko-KR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SourceTree </a:t>
            </a:r>
            <a:r>
              <a:rPr lang="ko-KR" altLang="en-US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사용법 </a:t>
            </a:r>
            <a:r>
              <a:rPr lang="en-US" altLang="ko-KR" sz="4800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–Branch</a:t>
            </a:r>
            <a:endParaRPr lang="en-US" altLang="ko-KR" sz="8266" spc="-100" dirty="0">
              <a:solidFill>
                <a:srgbClr val="006CD8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Manrope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D408E9-2656-6405-8370-5EC9C8D6D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350" y="5070009"/>
            <a:ext cx="12308018" cy="6668431"/>
          </a:xfrm>
          <a:prstGeom prst="rect">
            <a:avLst/>
          </a:prstGeom>
          <a:effectLst>
            <a:outerShdw blurRad="571500" dist="38100" dir="2700000" algn="tl" rotWithShape="0">
              <a:prstClr val="black">
                <a:alpha val="60000"/>
              </a:prstClr>
            </a:outerShdw>
          </a:effec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A29C8C2-5A46-F70B-001F-1A59E6FFF9B6}"/>
              </a:ext>
            </a:extLst>
          </p:cNvPr>
          <p:cNvSpPr/>
          <p:nvPr/>
        </p:nvSpPr>
        <p:spPr>
          <a:xfrm>
            <a:off x="4780959" y="5661025"/>
            <a:ext cx="533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63F049-94D9-19D3-4AD9-2D01D1E6D066}"/>
              </a:ext>
            </a:extLst>
          </p:cNvPr>
          <p:cNvSpPr/>
          <p:nvPr/>
        </p:nvSpPr>
        <p:spPr>
          <a:xfrm>
            <a:off x="2222500" y="7620000"/>
            <a:ext cx="20447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B0B378-A804-69EF-D933-A12C46819EE7}"/>
              </a:ext>
            </a:extLst>
          </p:cNvPr>
          <p:cNvSpPr txBox="1"/>
          <p:nvPr/>
        </p:nvSpPr>
        <p:spPr>
          <a:xfrm>
            <a:off x="15626167" y="4783246"/>
            <a:ext cx="12211664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36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</a:t>
            </a: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생성</a:t>
            </a:r>
            <a:endParaRPr lang="en-US" altLang="ko-KR" sz="36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ko-KR" altLang="ko-KR" sz="36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1. 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상단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Branch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버튼을 클릭</a:t>
            </a:r>
          </a:p>
          <a:p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2.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이름을 입력한 후 생성</a:t>
            </a:r>
          </a:p>
          <a:p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3. 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새로운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브랜치에서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독립적으로 작업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가능</a:t>
            </a:r>
            <a:endParaRPr lang="ko-KR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4. 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기능 개발이나 버그 수정 시 주로 사용 </a:t>
            </a:r>
          </a:p>
          <a:p>
            <a:endParaRPr lang="en-US" altLang="ko-KR" sz="36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ko-KR" sz="36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</a:t>
            </a: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변경 (</a:t>
            </a:r>
            <a:r>
              <a:rPr lang="ko-KR" altLang="ko-KR" sz="36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Checkout</a:t>
            </a:r>
            <a:r>
              <a:rPr lang="ko-KR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</a:p>
          <a:p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1. 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좌측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Branch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목록에서 원하는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브랜치를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선택 </a:t>
            </a:r>
          </a:p>
          <a:p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2. 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더블 클릭 또는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Checkout을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선택하여 이동 </a:t>
            </a:r>
          </a:p>
          <a:p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3. 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현재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브랜치가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변경되며 이후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Commit은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b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해당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브랜치에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저장 </a:t>
            </a:r>
          </a:p>
          <a:p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4. 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현재 작업 중인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브랜치는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굵게 표시</a:t>
            </a:r>
          </a:p>
        </p:txBody>
      </p:sp>
    </p:spTree>
    <p:extLst>
      <p:ext uri="{BB962C8B-B14F-4D97-AF65-F5344CB8AC3E}">
        <p14:creationId xmlns:p14="http://schemas.microsoft.com/office/powerpoint/2010/main" val="563621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2AB3-02F7-4F91-B48B-07DB1330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56103BB1-C511-6EA8-4ACC-C3A504716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89A0983-CFE5-7D65-9CF5-75364E29D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C5FFD980-6519-37D8-803C-B124D2C467DC}"/>
              </a:ext>
            </a:extLst>
          </p:cNvPr>
          <p:cNvSpPr txBox="1"/>
          <p:nvPr/>
        </p:nvSpPr>
        <p:spPr>
          <a:xfrm>
            <a:off x="2222500" y="787400"/>
            <a:ext cx="160655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>
              <a:lnSpc>
                <a:spcPct val="109559"/>
              </a:lnSpc>
            </a:pPr>
            <a:r>
              <a:rPr lang="en-US" altLang="ko-KR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SourceTree </a:t>
            </a:r>
            <a:r>
              <a:rPr lang="ko-KR" altLang="en-US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사용법 </a:t>
            </a:r>
            <a:r>
              <a:rPr lang="en-US" altLang="ko-KR" sz="4800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–Merge</a:t>
            </a:r>
            <a:endParaRPr lang="en-US" altLang="ko-KR" sz="8266" spc="-100" dirty="0">
              <a:solidFill>
                <a:srgbClr val="006CD8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Manrope 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7B9C2D-F4D9-2B89-3747-C3D2E9E8B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589" y="5070009"/>
            <a:ext cx="9421540" cy="6668431"/>
          </a:xfrm>
          <a:prstGeom prst="rect">
            <a:avLst/>
          </a:prstGeom>
          <a:effectLst>
            <a:outerShdw blurRad="571500" dist="38100" dir="2700000" algn="tl" rotWithShape="0">
              <a:prstClr val="black">
                <a:alpha val="60000"/>
              </a:prstClr>
            </a:outerShdw>
          </a:effec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105749C-5DF5-7156-A437-FC0093D14899}"/>
              </a:ext>
            </a:extLst>
          </p:cNvPr>
          <p:cNvSpPr/>
          <p:nvPr/>
        </p:nvSpPr>
        <p:spPr>
          <a:xfrm>
            <a:off x="6775789" y="5679609"/>
            <a:ext cx="533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82C705-DD75-FA85-8F21-64DEE3B1007A}"/>
              </a:ext>
            </a:extLst>
          </p:cNvPr>
          <p:cNvSpPr/>
          <p:nvPr/>
        </p:nvSpPr>
        <p:spPr>
          <a:xfrm>
            <a:off x="11353800" y="9448800"/>
            <a:ext cx="85090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314254-1357-AA06-6922-A089BEB9B4EB}"/>
              </a:ext>
            </a:extLst>
          </p:cNvPr>
          <p:cNvSpPr/>
          <p:nvPr/>
        </p:nvSpPr>
        <p:spPr>
          <a:xfrm>
            <a:off x="3810000" y="7045324"/>
            <a:ext cx="9144000" cy="1489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4A9B09-0F38-ECFE-A4A0-E4F37D537B69}"/>
              </a:ext>
            </a:extLst>
          </p:cNvPr>
          <p:cNvSpPr txBox="1"/>
          <p:nvPr/>
        </p:nvSpPr>
        <p:spPr>
          <a:xfrm>
            <a:off x="14464862" y="6272241"/>
            <a:ext cx="122182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36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</a:t>
            </a:r>
            <a:r>
              <a:rPr lang="ko-KR" altLang="en-US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en-US" altLang="ko-KR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Merge</a:t>
            </a:r>
          </a:p>
          <a:p>
            <a:pPr>
              <a:buNone/>
            </a:pPr>
            <a:endParaRPr lang="ko-KR" altLang="ko-KR" sz="36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>
              <a:buFont typeface="+mj-lt"/>
              <a:buAutoNum type="arabicPeriod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병합을 받을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main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)로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Checkout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</a:p>
          <a:p>
            <a:pPr>
              <a:buFont typeface="+mj-lt"/>
              <a:buAutoNum type="arabicPeriod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상단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Merge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버튼 클릭 </a:t>
            </a:r>
          </a:p>
          <a:p>
            <a:pPr>
              <a:buFont typeface="+mj-lt"/>
              <a:buAutoNum type="arabicPeriod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병합할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브랜치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feature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login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 선택 </a:t>
            </a:r>
          </a:p>
          <a:p>
            <a:pPr>
              <a:buFont typeface="+mj-lt"/>
              <a:buAutoNum type="arabicPeriod"/>
            </a:pP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Merge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실행 </a:t>
            </a:r>
          </a:p>
          <a:p>
            <a:pPr>
              <a:buFont typeface="+mj-lt"/>
              <a:buAutoNum type="arabicPeriod"/>
            </a:pP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History에서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Merge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확인 </a:t>
            </a:r>
          </a:p>
          <a:p>
            <a:pPr>
              <a:buFont typeface="+mj-lt"/>
              <a:buAutoNum type="arabicPeriod"/>
            </a:pP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Push하여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원격 저장소에 반영</a:t>
            </a:r>
          </a:p>
        </p:txBody>
      </p:sp>
    </p:spTree>
    <p:extLst>
      <p:ext uri="{BB962C8B-B14F-4D97-AF65-F5344CB8AC3E}">
        <p14:creationId xmlns:p14="http://schemas.microsoft.com/office/powerpoint/2010/main" val="512052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71DD9-AE18-ED76-2335-6EDAF2EC9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FB7D4A8-0A81-AFB6-1662-3540C51BB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5FB35AE-35CD-5A74-68EC-DAB4AC193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F8EB4DA8-B0E2-1F69-9D7A-B9096FBF86DA}"/>
              </a:ext>
            </a:extLst>
          </p:cNvPr>
          <p:cNvSpPr txBox="1"/>
          <p:nvPr/>
        </p:nvSpPr>
        <p:spPr>
          <a:xfrm>
            <a:off x="2222500" y="787400"/>
            <a:ext cx="160655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>
              <a:lnSpc>
                <a:spcPct val="109559"/>
              </a:lnSpc>
            </a:pPr>
            <a:r>
              <a:rPr lang="en-US" altLang="ko-KR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SourceTree </a:t>
            </a:r>
            <a:r>
              <a:rPr lang="ko-KR" altLang="en-US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사용법 </a:t>
            </a:r>
            <a:r>
              <a:rPr lang="en-US" altLang="ko-KR" sz="4800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–Pull</a:t>
            </a:r>
            <a:endParaRPr lang="en-US" altLang="ko-KR" sz="8266" spc="-100" dirty="0">
              <a:solidFill>
                <a:srgbClr val="006CD8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Manrope Extra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9B5859-7368-1081-80E9-DA1105F7E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589" y="5087426"/>
            <a:ext cx="9421540" cy="6668431"/>
          </a:xfrm>
          <a:prstGeom prst="rect">
            <a:avLst/>
          </a:prstGeom>
          <a:effectLst>
            <a:outerShdw blurRad="571500" dist="38100" dir="2700000" algn="tl" rotWithShape="0">
              <a:prstClr val="black">
                <a:alpha val="60000"/>
              </a:prst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63618DE-2D92-79A3-117A-C4A396D07205}"/>
              </a:ext>
            </a:extLst>
          </p:cNvPr>
          <p:cNvSpPr/>
          <p:nvPr/>
        </p:nvSpPr>
        <p:spPr>
          <a:xfrm>
            <a:off x="4476159" y="5678442"/>
            <a:ext cx="4572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10B975-28CF-0D80-1D38-E11EA3DA3580}"/>
              </a:ext>
            </a:extLst>
          </p:cNvPr>
          <p:cNvSpPr/>
          <p:nvPr/>
        </p:nvSpPr>
        <p:spPr>
          <a:xfrm>
            <a:off x="10134600" y="8534400"/>
            <a:ext cx="85725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A83715-15B5-0554-FE43-B594BF9DE25D}"/>
              </a:ext>
            </a:extLst>
          </p:cNvPr>
          <p:cNvSpPr txBox="1"/>
          <p:nvPr/>
        </p:nvSpPr>
        <p:spPr>
          <a:xfrm>
            <a:off x="14401800" y="6713481"/>
            <a:ext cx="122116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3600" b="1" dirty="0"/>
              <a:t>원격 저장소 동기화</a:t>
            </a:r>
            <a:endParaRPr lang="en-US" altLang="ko-KR" sz="3600" b="1" dirty="0"/>
          </a:p>
          <a:p>
            <a:endParaRPr lang="ko-KR" altLang="ko-KR" sz="3600" b="1" dirty="0"/>
          </a:p>
          <a:p>
            <a:r>
              <a:rPr lang="en-US" altLang="ko-KR" sz="3600" dirty="0"/>
              <a:t>1. </a:t>
            </a:r>
            <a:r>
              <a:rPr lang="ko-KR" altLang="ko-KR" sz="3600" dirty="0"/>
              <a:t>상단 </a:t>
            </a:r>
            <a:r>
              <a:rPr lang="ko-KR" altLang="ko-KR" sz="3600" b="1" dirty="0" err="1"/>
              <a:t>Pull</a:t>
            </a:r>
            <a:r>
              <a:rPr lang="ko-KR" altLang="ko-KR" sz="3600" dirty="0"/>
              <a:t> 버튼을 클릭 </a:t>
            </a:r>
          </a:p>
          <a:p>
            <a:r>
              <a:rPr lang="en-US" altLang="ko-KR" sz="3600" dirty="0"/>
              <a:t>2. </a:t>
            </a:r>
            <a:r>
              <a:rPr lang="ko-KR" altLang="ko-KR" sz="3600" dirty="0"/>
              <a:t>가져올 </a:t>
            </a:r>
            <a:r>
              <a:rPr lang="ko-KR" altLang="ko-KR" sz="3600" dirty="0" err="1"/>
              <a:t>Branch를</a:t>
            </a:r>
            <a:r>
              <a:rPr lang="ko-KR" altLang="ko-KR" sz="3600" dirty="0"/>
              <a:t> 선택 </a:t>
            </a:r>
          </a:p>
          <a:p>
            <a:r>
              <a:rPr lang="en-US" altLang="ko-KR" sz="3600" dirty="0"/>
              <a:t>3. </a:t>
            </a:r>
            <a:r>
              <a:rPr lang="ko-KR" altLang="ko-KR" sz="3600" dirty="0"/>
              <a:t>최신 </a:t>
            </a:r>
            <a:r>
              <a:rPr lang="ko-KR" altLang="ko-KR" sz="3600" dirty="0" err="1"/>
              <a:t>Commit을</a:t>
            </a:r>
            <a:r>
              <a:rPr lang="ko-KR" altLang="ko-KR" sz="3600" dirty="0"/>
              <a:t> </a:t>
            </a:r>
            <a:r>
              <a:rPr lang="ko-KR" altLang="ko-KR" sz="3600" dirty="0" err="1"/>
              <a:t>내려받아</a:t>
            </a:r>
            <a:r>
              <a:rPr lang="ko-KR" altLang="ko-KR" sz="3600" dirty="0"/>
              <a:t> 현재 </a:t>
            </a:r>
            <a:r>
              <a:rPr lang="ko-KR" altLang="ko-KR" sz="3600" dirty="0" err="1"/>
              <a:t>브랜치에</a:t>
            </a:r>
            <a:r>
              <a:rPr lang="ko-KR" altLang="ko-KR" sz="3600" dirty="0"/>
              <a:t> 반영 </a:t>
            </a:r>
          </a:p>
          <a:p>
            <a:r>
              <a:rPr lang="en-US" altLang="ko-KR" sz="3600" dirty="0"/>
              <a:t>- </a:t>
            </a:r>
            <a:r>
              <a:rPr lang="ko-KR" altLang="ko-KR" sz="3600" dirty="0"/>
              <a:t>작업을 시작하기 전에 </a:t>
            </a:r>
            <a:r>
              <a:rPr lang="ko-KR" altLang="ko-KR" sz="3600" dirty="0" err="1"/>
              <a:t>Pull을</a:t>
            </a:r>
            <a:r>
              <a:rPr lang="ko-KR" altLang="ko-KR" sz="3600" dirty="0"/>
              <a:t> 먼저 수행</a:t>
            </a:r>
          </a:p>
        </p:txBody>
      </p:sp>
    </p:spTree>
    <p:extLst>
      <p:ext uri="{BB962C8B-B14F-4D97-AF65-F5344CB8AC3E}">
        <p14:creationId xmlns:p14="http://schemas.microsoft.com/office/powerpoint/2010/main" val="1107819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79941-85B3-853B-6F81-76E2AEA3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DE55284B-9C45-C793-EFE0-38DBD5344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072A5BD-E580-669B-B74A-9B7D03D1F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7CB0A4B3-BE4D-F76B-0413-56F9D5664650}"/>
              </a:ext>
            </a:extLst>
          </p:cNvPr>
          <p:cNvSpPr txBox="1"/>
          <p:nvPr/>
        </p:nvSpPr>
        <p:spPr>
          <a:xfrm>
            <a:off x="2222500" y="787400"/>
            <a:ext cx="160655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>
              <a:lnSpc>
                <a:spcPct val="109559"/>
              </a:lnSpc>
            </a:pPr>
            <a:r>
              <a:rPr lang="en-US" altLang="ko-KR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SourceTree </a:t>
            </a:r>
            <a:r>
              <a:rPr lang="ko-KR" altLang="en-US" sz="8266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사용법 </a:t>
            </a:r>
            <a:r>
              <a:rPr lang="en-US" altLang="ko-KR" sz="4800" spc="-100" dirty="0">
                <a:solidFill>
                  <a:srgbClr val="006CD8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Manrope ExtraBold"/>
              </a:rPr>
              <a:t>–Push</a:t>
            </a:r>
            <a:endParaRPr lang="en-US" altLang="ko-KR" sz="8266" spc="-100" dirty="0">
              <a:solidFill>
                <a:srgbClr val="006CD8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Manrope Extra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52D228-CFC7-FA99-E888-A5E575F26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2246" y="5070009"/>
            <a:ext cx="9420225" cy="6667500"/>
          </a:xfrm>
          <a:prstGeom prst="rect">
            <a:avLst/>
          </a:prstGeom>
          <a:effectLst>
            <a:outerShdw blurRad="571500" dist="38100" dir="2700000" algn="tl" rotWithShape="0">
              <a:prstClr val="black">
                <a:alpha val="60000"/>
              </a:prst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F9ED046-CA14-578A-04FA-5B23D76A1EB0}"/>
              </a:ext>
            </a:extLst>
          </p:cNvPr>
          <p:cNvSpPr/>
          <p:nvPr/>
        </p:nvSpPr>
        <p:spPr>
          <a:xfrm>
            <a:off x="5009559" y="5660559"/>
            <a:ext cx="4572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AC79D8-6DC7-0C6F-E6DD-3B8E19484B5F}"/>
              </a:ext>
            </a:extLst>
          </p:cNvPr>
          <p:cNvSpPr txBox="1"/>
          <p:nvPr/>
        </p:nvSpPr>
        <p:spPr>
          <a:xfrm>
            <a:off x="14020800" y="6695599"/>
            <a:ext cx="11658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원격 저장소 업로드</a:t>
            </a:r>
            <a:endParaRPr lang="en-US" altLang="ko-KR" sz="36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36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742950" indent="-742950">
              <a:buAutoNum type="arabicPeriod"/>
            </a:pP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 완료된 후 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Push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버튼을 클릭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742950" indent="-742950">
              <a:buAutoNum type="arabicPeriod"/>
            </a:pP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업로드할 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Branch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선택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742950" indent="-742950">
              <a:buAutoNum type="arabicPeriod"/>
            </a:pP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원격 저장소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(GitHub)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 변경 사항을 업로드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742950" indent="-742950">
              <a:buAutoNum type="arabicPeriod"/>
            </a:pP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Push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 완료되면 다른 팀원도 변경 내용을 확인 가능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5596A3-BDE3-F83A-67F2-4FC827210004}"/>
              </a:ext>
            </a:extLst>
          </p:cNvPr>
          <p:cNvSpPr/>
          <p:nvPr/>
        </p:nvSpPr>
        <p:spPr>
          <a:xfrm>
            <a:off x="10668000" y="8763000"/>
            <a:ext cx="76200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98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5E6E0-854C-3A68-450F-5B9EB73DB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850B73C-D83E-893D-D762-2C7B37724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2997200"/>
            <a:ext cx="24422100" cy="38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500E58B-346B-BCA4-856C-2540FFBB2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5803900" y="6870700"/>
            <a:ext cx="13766800" cy="381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A37F1EB1-53F2-76E4-382C-276D3510982C}"/>
              </a:ext>
            </a:extLst>
          </p:cNvPr>
          <p:cNvSpPr txBox="1"/>
          <p:nvPr/>
        </p:nvSpPr>
        <p:spPr>
          <a:xfrm>
            <a:off x="2222500" y="787400"/>
            <a:ext cx="10274300" cy="1473200"/>
          </a:xfrm>
          <a:prstGeom prst="rect">
            <a:avLst/>
          </a:prstGeom>
        </p:spPr>
        <p:txBody>
          <a:bodyPr lIns="0" tIns="41995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altLang="ko-KR" sz="8266" b="0" i="0" u="none" strike="noStrike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History </a:t>
            </a:r>
            <a:r>
              <a:rPr lang="ko-KR" altLang="en-US" sz="8266" b="0" i="0" u="none" strike="noStrike" spc="-100" dirty="0">
                <a:solidFill>
                  <a:srgbClr val="006CD8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Manrope ExtraBold"/>
              </a:rPr>
              <a:t>활용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C9FBDF-042E-C68A-E39D-E322BD151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987" y="4648200"/>
            <a:ext cx="9412013" cy="6668431"/>
          </a:xfrm>
          <a:prstGeom prst="rect">
            <a:avLst/>
          </a:prstGeom>
          <a:effectLst>
            <a:outerShdw blurRad="571500" dist="38100" dir="2700000" algn="tl" rotWithShape="0">
              <a:prstClr val="black">
                <a:alpha val="6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6E91A0-7E63-400D-4B31-FD55B40BFF30}"/>
              </a:ext>
            </a:extLst>
          </p:cNvPr>
          <p:cNvSpPr txBox="1"/>
          <p:nvPr/>
        </p:nvSpPr>
        <p:spPr>
          <a:xfrm>
            <a:off x="13333249" y="3312275"/>
            <a:ext cx="11063451" cy="10187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History</a:t>
            </a:r>
            <a:endParaRPr lang="en-US" altLang="ko-KR" sz="36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저장소의 모든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Commit을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시간순으로 확인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가능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작성자,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Message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Hash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등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</a:t>
            </a:r>
            <a:b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정보를 제공</a:t>
            </a:r>
            <a:endParaRPr lang="en-US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ko-KR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특정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Commit을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선택하면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수정된 파일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추가된 코드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b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삭제된 코드 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등의 변경 내용</a:t>
            </a:r>
            <a:r>
              <a:rPr lang="en-US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가능</a:t>
            </a:r>
            <a:endParaRPr lang="ko-KR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b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ko-KR" altLang="ko-KR" sz="40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Diff</a:t>
            </a:r>
            <a:endParaRPr lang="en-US" altLang="ko-KR" sz="36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두 버전의 차이점을 비교하여 어떤 코드가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추가·삭제·수정되었는지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보여주는 기능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변경 사항을 검토하거나 코드 리뷰 시 자주 사용</a:t>
            </a:r>
            <a:b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endParaRPr lang="ko-KR" altLang="ko-KR" sz="36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40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Backup</a:t>
            </a:r>
            <a:endParaRPr lang="ko-KR" altLang="ko-KR" sz="40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Checkout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: 특정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상태 확인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Reset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: 현재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Branch를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이전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Commit으로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이동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Revert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: 변경 사항을 취소하는 새로운 </a:t>
            </a:r>
            <a:r>
              <a:rPr lang="ko-KR" altLang="ko-KR" sz="36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Commit</a:t>
            </a:r>
            <a:r>
              <a:rPr lang="ko-KR" altLang="ko-KR" sz="36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생성</a:t>
            </a:r>
          </a:p>
        </p:txBody>
      </p:sp>
    </p:spTree>
    <p:extLst>
      <p:ext uri="{BB962C8B-B14F-4D97-AF65-F5344CB8AC3E}">
        <p14:creationId xmlns:p14="http://schemas.microsoft.com/office/powerpoint/2010/main" val="304289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594</Words>
  <Application>Microsoft Office PowerPoint</Application>
  <PresentationFormat>사용자 지정</PresentationFormat>
  <Paragraphs>119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제주고딕</vt:lpstr>
      <vt:lpstr>나눔스퀘어OTF_ac ExtraBold</vt:lpstr>
      <vt:lpstr>Arial</vt:lpstr>
      <vt:lpstr>맑은 고딕</vt:lpstr>
      <vt:lpstr>Wingdings</vt:lpstr>
      <vt:lpstr>Calibri</vt:lpstr>
      <vt:lpstr>Manrope ExtraBold</vt:lpstr>
      <vt:lpstr>나눔스퀘어OTF_ac</vt:lpstr>
      <vt:lpstr>나눔스퀘어 네오 ExtraBold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daewan ㅤ</cp:lastModifiedBy>
  <cp:revision>103</cp:revision>
  <dcterms:created xsi:type="dcterms:W3CDTF">2006-08-16T00:00:00Z</dcterms:created>
  <dcterms:modified xsi:type="dcterms:W3CDTF">2026-07-13T23:34:26Z</dcterms:modified>
</cp:coreProperties>
</file>